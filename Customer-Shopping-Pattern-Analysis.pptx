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DM Sans" pitchFamily="2" charset="0"/>
      <p:regular r:id="rId17"/>
    </p:embeddedFont>
    <p:embeddedFont>
      <p:font typeface="Libre Baskerville" panose="02000000000000000000" pitchFamily="2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1917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Pattern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</a:t>
            </a: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3,900 transactions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product categories, demographics, and subscription behavior.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3635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267519" y="1733699"/>
            <a:ext cx="42158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1375097" y="2378646"/>
            <a:ext cx="20006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Purchases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431953" y="1733699"/>
            <a:ext cx="42159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5539606" y="2378646"/>
            <a:ext cx="20006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Columns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67519" y="2954462"/>
            <a:ext cx="42158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$59.76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1375097" y="3599408"/>
            <a:ext cx="20006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Avg. Purchase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431953" y="2954462"/>
            <a:ext cx="42159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3.75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5539606" y="3599408"/>
            <a:ext cx="20006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Avg. Rating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398033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features: demographics, purchase details, shipping, discounts, review ratings, and subscription status.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9610" y="385242"/>
            <a:ext cx="4963269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in Python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49610" y="961281"/>
            <a:ext cx="7141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49610" y="1165324"/>
            <a:ext cx="4815780" cy="14288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49610" y="1258119"/>
            <a:ext cx="20631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 &amp; Explore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49610" y="1528614"/>
            <a:ext cx="527298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with </a:t>
            </a:r>
            <a:r>
              <a:rPr lang="en-US" sz="10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; used </a:t>
            </a:r>
            <a:r>
              <a:rPr lang="en-US" sz="10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r>
              <a:rPr lang="en-US" sz="10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49610" y="1941984"/>
            <a:ext cx="7141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49610" y="2146027"/>
            <a:ext cx="4815780" cy="14288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49610" y="2238821"/>
            <a:ext cx="214305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 &amp; Standardize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49610" y="2509317"/>
            <a:ext cx="52729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37 missing ratings; renamed columns to snake_case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49610" y="2917924"/>
            <a:ext cx="7141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49610" y="3121968"/>
            <a:ext cx="4815780" cy="14288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49610" y="3214762"/>
            <a:ext cx="2131516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49610" y="3485257"/>
            <a:ext cx="527298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</a:t>
            </a:r>
            <a:r>
              <a:rPr lang="en-US" sz="10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r>
              <a:rPr lang="en-US" sz="10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columns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49610" y="3898627"/>
            <a:ext cx="7141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49610" y="4102671"/>
            <a:ext cx="4815780" cy="14288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49610" y="4195465"/>
            <a:ext cx="20631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 to MySQL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49610" y="4465960"/>
            <a:ext cx="52729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Python to MySQL for SQL analysis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1642"/>
            <a:ext cx="619675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&amp; Shipping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06699"/>
            <a:ext cx="3902943" cy="21856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788988"/>
            <a:ext cx="312606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Type vs. Avg. Spend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4749701" y="2169914"/>
            <a:ext cx="3902943" cy="1238399"/>
          </a:xfrm>
          <a:prstGeom prst="roundRect">
            <a:avLst>
              <a:gd name="adj" fmla="val 480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896296" y="2264494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Shipping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845350" y="2264494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Avg. Amount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896296" y="2675706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45350" y="2675706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$58.46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96296" y="3086919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45350" y="3086919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$60.48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49701" y="3567782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customers generate </a:t>
            </a:r>
            <a:r>
              <a:rPr lang="en-US" sz="1100" b="1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2× more revenue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than female. Express shipping users spend slightly more.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8731"/>
            <a:ext cx="776763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 &amp; Discount Leaders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76077"/>
            <a:ext cx="23110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5 by Avg. Rating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857003"/>
            <a:ext cx="3902943" cy="2448223"/>
          </a:xfrm>
          <a:prstGeom prst="roundRect">
            <a:avLst>
              <a:gd name="adj" fmla="val 243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0881" y="1861765"/>
            <a:ext cx="389341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2714" y="1951583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91767" y="1951583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0881" y="2268215"/>
            <a:ext cx="389341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2714" y="2358033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Gloves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91767" y="2358033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0881" y="2674665"/>
            <a:ext cx="389341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2714" y="2764482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Sandals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91767" y="2764482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0881" y="3081114"/>
            <a:ext cx="389341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2714" y="3170932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91767" y="3170932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0881" y="3487564"/>
            <a:ext cx="389341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2714" y="3577382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91767" y="3577382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0881" y="3894013"/>
            <a:ext cx="389341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2714" y="3983831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Skirt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91767" y="3983831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3.78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49701" y="1476077"/>
            <a:ext cx="37184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Most Discount-Dependent Products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749701" y="1857003"/>
            <a:ext cx="3902943" cy="2448223"/>
          </a:xfrm>
          <a:prstGeom prst="roundRect">
            <a:avLst>
              <a:gd name="adj" fmla="val 243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54463" y="1861765"/>
            <a:ext cx="389341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96296" y="1951583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45350" y="1951583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Discount Rate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463" y="2268215"/>
            <a:ext cx="389341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96296" y="2358033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45350" y="2358033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50.00%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463" y="2674665"/>
            <a:ext cx="389341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896296" y="2764482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Sneakers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45350" y="2764482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49.66%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463" y="3081114"/>
            <a:ext cx="389341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896296" y="3170932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Coat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45350" y="3170932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49.07%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463" y="3487564"/>
            <a:ext cx="389341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896296" y="3577382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Sweater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45350" y="3577382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48.17%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463" y="3894013"/>
            <a:ext cx="389341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896296" y="3983831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45350" y="3983831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47.37%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4934"/>
            <a:ext cx="488245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59991"/>
            <a:ext cx="3902943" cy="21856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342281"/>
            <a:ext cx="233578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Segment Breakdown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4749701" y="1723206"/>
            <a:ext cx="1880592" cy="1109886"/>
          </a:xfrm>
          <a:prstGeom prst="roundRect">
            <a:avLst>
              <a:gd name="adj" fmla="val 536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896222" y="1869728"/>
            <a:ext cx="20447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896222" y="2232943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3,116 customers — dominant majority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772052" y="1723206"/>
            <a:ext cx="1880592" cy="1109886"/>
          </a:xfrm>
          <a:prstGeom prst="roundRect">
            <a:avLst>
              <a:gd name="adj" fmla="val 536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918573" y="1869728"/>
            <a:ext cx="20447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918573" y="2232943"/>
            <a:ext cx="20447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701 customers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49701" y="2974851"/>
            <a:ext cx="3902943" cy="883072"/>
          </a:xfrm>
          <a:prstGeom prst="roundRect">
            <a:avLst>
              <a:gd name="adj" fmla="val 6743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896222" y="312137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896222" y="3484587"/>
            <a:ext cx="40671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83 customers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49701" y="4017392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with </a:t>
            </a: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&gt;5 purchases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958 subscribed vs. 2,518 non-subscribed.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1642"/>
            <a:ext cx="627228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Subscribers vs. Non-Subscribers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06699"/>
            <a:ext cx="3902943" cy="21856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788988"/>
            <a:ext cx="264966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Avg. Spend Comparison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4749701" y="2169914"/>
            <a:ext cx="3902943" cy="1238399"/>
          </a:xfrm>
          <a:prstGeom prst="roundRect">
            <a:avLst>
              <a:gd name="adj" fmla="val 480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896296" y="2264494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Status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845350" y="2264494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Avg. Spend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896296" y="2675706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45350" y="2675706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$59.49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96296" y="3086919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Non-Subscribers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45350" y="3086919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$59.87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49701" y="3567782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Spend per customer is nearly identical — </a:t>
            </a:r>
            <a:r>
              <a:rPr lang="en-US" sz="1100" b="1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subscription drives volume, not ticket size.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0499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Age Group &amp; Top Products per Category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918543"/>
            <a:ext cx="3902943" cy="21856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900833"/>
            <a:ext cx="28166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Products by Category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4749701" y="2281758"/>
            <a:ext cx="3902943" cy="2041773"/>
          </a:xfrm>
          <a:prstGeom prst="roundRect">
            <a:avLst>
              <a:gd name="adj" fmla="val 291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4754463" y="2286521"/>
            <a:ext cx="389341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896296" y="2376339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45350" y="2376339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#1 Product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463" y="2692971"/>
            <a:ext cx="389341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896296" y="2782788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Accessories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45350" y="2782788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Jewelry (171)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463" y="3099420"/>
            <a:ext cx="389341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896296" y="3189238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Clothing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45350" y="3189238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Blouse (171)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463" y="3505870"/>
            <a:ext cx="389341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896296" y="3595688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Footwear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845350" y="3595688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Sandals (160)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54463" y="3912319"/>
            <a:ext cx="389341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4896296" y="4002137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Outerwear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45350" y="4002137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Jacket (163)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65162" y="3735512"/>
            <a:ext cx="3937546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Dashboard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65162" y="4337670"/>
            <a:ext cx="821367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dashboard consolidating all key metrics: subscription rates, revenue by category, age group performance, and sales trends.</a:t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75AC5C-C441-4E59-2C0B-8EC70602F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62" y="326733"/>
            <a:ext cx="5893597" cy="32217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55861"/>
            <a:ext cx="555329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782366"/>
            <a:ext cx="2622724" cy="1081757"/>
          </a:xfrm>
          <a:prstGeom prst="roundRect">
            <a:avLst>
              <a:gd name="adj" fmla="val 8453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77069" y="1782366"/>
            <a:ext cx="76200" cy="1081757"/>
          </a:xfrm>
          <a:prstGeom prst="roundRect">
            <a:avLst>
              <a:gd name="adj" fmla="val 78140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4077" y="1943174"/>
            <a:ext cx="22577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4077" y="2249686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subscriber benefits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0601" y="1782366"/>
            <a:ext cx="2622724" cy="1081757"/>
          </a:xfrm>
          <a:prstGeom prst="roundRect">
            <a:avLst>
              <a:gd name="adj" fmla="val 8453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41551" y="1782366"/>
            <a:ext cx="76200" cy="1081757"/>
          </a:xfrm>
          <a:prstGeom prst="roundRect">
            <a:avLst>
              <a:gd name="adj" fmla="val 78140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78560" y="194317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78560" y="2249686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buyers; move them to "Loyal" segment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25083" y="1782366"/>
            <a:ext cx="2622724" cy="1081757"/>
          </a:xfrm>
          <a:prstGeom prst="roundRect">
            <a:avLst>
              <a:gd name="adj" fmla="val 8453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006033" y="1782366"/>
            <a:ext cx="76200" cy="1081757"/>
          </a:xfrm>
          <a:prstGeom prst="roundRect">
            <a:avLst>
              <a:gd name="adj" fmla="val 78140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43042" y="1943174"/>
            <a:ext cx="25839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43042" y="2249686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boosts with margin control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3005882"/>
            <a:ext cx="2622724" cy="1081757"/>
          </a:xfrm>
          <a:prstGeom prst="roundRect">
            <a:avLst>
              <a:gd name="adj" fmla="val 8453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77069" y="3005882"/>
            <a:ext cx="76200" cy="1081757"/>
          </a:xfrm>
          <a:prstGeom prst="roundRect">
            <a:avLst>
              <a:gd name="adj" fmla="val 78140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14077" y="3166690"/>
            <a:ext cx="22548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14077" y="3473202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&amp; best-selling items in campaigns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60601" y="3005882"/>
            <a:ext cx="2622724" cy="1081757"/>
          </a:xfrm>
          <a:prstGeom prst="roundRect">
            <a:avLst>
              <a:gd name="adj" fmla="val 8453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241551" y="3005882"/>
            <a:ext cx="76200" cy="1081757"/>
          </a:xfrm>
          <a:prstGeom prst="roundRect">
            <a:avLst>
              <a:gd name="adj" fmla="val 78140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478560" y="3166690"/>
            <a:ext cx="2244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478560" y="3473202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Young Adults and express-shipping users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381</Words>
  <Application>Microsoft Office PowerPoint</Application>
  <PresentationFormat>On-screen Show (16:9)</PresentationFormat>
  <Paragraphs>114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Libre Baskerville</vt:lpstr>
      <vt:lpstr>DM Sans</vt:lpstr>
      <vt:lpstr>Consolas</vt:lpstr>
      <vt:lpstr>Arial</vt:lpstr>
      <vt:lpstr>Libre Baskerville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mayankkverma555@gmail.com</cp:lastModifiedBy>
  <cp:revision>3</cp:revision>
  <dcterms:created xsi:type="dcterms:W3CDTF">2026-05-18T10:36:25Z</dcterms:created>
  <dcterms:modified xsi:type="dcterms:W3CDTF">2026-05-19T05:45:01Z</dcterms:modified>
</cp:coreProperties>
</file>